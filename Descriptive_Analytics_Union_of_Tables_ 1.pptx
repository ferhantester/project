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7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80234&amp;picture=thank-you-text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united-universit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292608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783080"/>
            <a:ext cx="111831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F2F57"/>
                </a:solidFill>
                <a:latin typeface="Aptos Display"/>
              </a:rPr>
              <a:t>DESCRIPTIVE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62336" y="2469361"/>
            <a:ext cx="465396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dirty="0">
                <a:latin typeface="Aptos"/>
              </a:rPr>
              <a:t>Practical: Union of Tables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3246120"/>
            <a:ext cx="2862072" cy="32004"/>
          </a:xfrm>
          <a:prstGeom prst="rect">
            <a:avLst/>
          </a:prstGeom>
          <a:solidFill>
            <a:srgbClr val="D2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29251" y="3493008"/>
            <a:ext cx="2508059" cy="18928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0F2F57"/>
                </a:solidFill>
              </a:rPr>
              <a:t>PRESENTED BY</a:t>
            </a:r>
          </a:p>
          <a:p>
            <a:pPr algn="ctr">
              <a:spcAft>
                <a:spcPts val="300"/>
              </a:spcAft>
            </a:pPr>
            <a:r>
              <a:rPr sz="2800" dirty="0">
                <a:solidFill>
                  <a:srgbClr val="2D343C"/>
                </a:solidFill>
              </a:rPr>
              <a:t>Priyanshi</a:t>
            </a:r>
          </a:p>
          <a:p>
            <a:pPr algn="ctr">
              <a:spcAft>
                <a:spcPts val="300"/>
              </a:spcAft>
            </a:pPr>
            <a:r>
              <a:rPr sz="2800" dirty="0">
                <a:solidFill>
                  <a:srgbClr val="2D343C"/>
                </a:solidFill>
              </a:rPr>
              <a:t>Akhilesh Mishra</a:t>
            </a:r>
          </a:p>
          <a:p>
            <a:pPr algn="ctr">
              <a:spcAft>
                <a:spcPts val="300"/>
              </a:spcAft>
            </a:pPr>
            <a:r>
              <a:rPr lang="en-US" sz="2800" dirty="0" smtClean="0">
                <a:solidFill>
                  <a:srgbClr val="2D343C"/>
                </a:solidFill>
              </a:rPr>
              <a:t>Kumar </a:t>
            </a:r>
            <a:r>
              <a:rPr lang="en-US" sz="2800" smtClean="0">
                <a:solidFill>
                  <a:srgbClr val="2D343C"/>
                </a:solidFill>
              </a:rPr>
              <a:t>Vaibhav</a:t>
            </a:r>
            <a:endParaRPr sz="2800" dirty="0">
              <a:solidFill>
                <a:srgbClr val="2D343C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50863" y="3730752"/>
            <a:ext cx="2900474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0F2F57"/>
                </a:solidFill>
              </a:rPr>
              <a:t>PRESENTED TO</a:t>
            </a:r>
          </a:p>
          <a:p>
            <a:pPr algn="ctr"/>
            <a:r>
              <a:rPr sz="2800" dirty="0">
                <a:solidFill>
                  <a:srgbClr val="2D343C"/>
                </a:solidFill>
              </a:rPr>
              <a:t>Mr. Ferhan Ahmed</a:t>
            </a:r>
          </a:p>
          <a:p>
            <a:pPr algn="ctr"/>
            <a:r>
              <a:rPr sz="2800" dirty="0">
                <a:solidFill>
                  <a:srgbClr val="2D343C"/>
                </a:solidFill>
              </a:rPr>
              <a:t>IBM Trainer</a:t>
            </a:r>
          </a:p>
          <a:p>
            <a:pPr algn="ctr"/>
            <a:r>
              <a:rPr sz="2800" dirty="0">
                <a:solidFill>
                  <a:srgbClr val="2D343C"/>
                </a:solidFill>
              </a:rPr>
              <a:t>United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6599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F2F57"/>
                </a:solidFill>
                <a:latin typeface="Aptos Display"/>
              </a:rPr>
              <a:t>Introduction to Descriptive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D343C"/>
                </a:solidFill>
                <a:latin typeface="Aptos"/>
              </a:defRPr>
            </a:pPr>
            <a:r>
              <a:rPr sz="2400" dirty="0"/>
              <a:t>Descriptive Analytics summarizes and explains existing or historical data.</a:t>
            </a:r>
          </a:p>
          <a:p>
            <a:pPr>
              <a:spcAft>
                <a:spcPts val="1800"/>
              </a:spcAft>
              <a:defRPr sz="2300">
                <a:solidFill>
                  <a:srgbClr val="2D343C"/>
                </a:solidFill>
                <a:latin typeface="Aptos"/>
              </a:defRPr>
            </a:pPr>
            <a:r>
              <a:rPr sz="2400" dirty="0"/>
              <a:t>It helps identify patterns, trends, and useful information in datasets.</a:t>
            </a:r>
          </a:p>
          <a:p>
            <a:pPr>
              <a:spcAft>
                <a:spcPts val="1800"/>
              </a:spcAft>
              <a:defRPr sz="2300">
                <a:solidFill>
                  <a:srgbClr val="2D343C"/>
                </a:solidFill>
                <a:latin typeface="Aptos"/>
              </a:defRPr>
            </a:pPr>
            <a:r>
              <a:rPr sz="2400" dirty="0"/>
              <a:t>Businesses use it to review performance and prepare reports.</a:t>
            </a:r>
          </a:p>
          <a:p>
            <a:pPr>
              <a:spcAft>
                <a:spcPts val="1800"/>
              </a:spcAft>
              <a:defRPr sz="2300">
                <a:solidFill>
                  <a:srgbClr val="2D343C"/>
                </a:solidFill>
                <a:latin typeface="Aptos"/>
              </a:defRPr>
            </a:pPr>
            <a:r>
              <a:rPr sz="2400" dirty="0"/>
              <a:t>Our practical combines employee records using Union of Tables.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6599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F2F57"/>
                </a:solidFill>
                <a:latin typeface="Aptos Display"/>
              </a:rPr>
              <a:t>Practical Idea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D343C"/>
                </a:solidFill>
                <a:latin typeface="Aptos"/>
              </a:defRPr>
            </a:pPr>
            <a:r>
              <a:rPr sz="2800" dirty="0"/>
              <a:t>Idea: Combine employee records stored in two separate tables.</a:t>
            </a:r>
          </a:p>
          <a:p>
            <a:pPr>
              <a:spcAft>
                <a:spcPts val="1800"/>
              </a:spcAft>
              <a:defRPr sz="2400">
                <a:solidFill>
                  <a:srgbClr val="2D343C"/>
                </a:solidFill>
                <a:latin typeface="Aptos"/>
              </a:defRPr>
            </a:pPr>
            <a:r>
              <a:rPr sz="2800" dirty="0"/>
              <a:t>Use </a:t>
            </a:r>
            <a:r>
              <a:rPr sz="2800" dirty="0" err="1"/>
              <a:t>Employee_January</a:t>
            </a:r>
            <a:r>
              <a:rPr sz="2800" dirty="0"/>
              <a:t> and </a:t>
            </a:r>
            <a:r>
              <a:rPr sz="2800" dirty="0" err="1"/>
              <a:t>Employee_February</a:t>
            </a:r>
            <a:r>
              <a:rPr sz="2800" dirty="0"/>
              <a:t> as input tables.</a:t>
            </a:r>
          </a:p>
          <a:p>
            <a:pPr>
              <a:spcAft>
                <a:spcPts val="1800"/>
              </a:spcAft>
              <a:defRPr sz="2400">
                <a:solidFill>
                  <a:srgbClr val="2D343C"/>
                </a:solidFill>
                <a:latin typeface="Aptos"/>
              </a:defRPr>
            </a:pPr>
            <a:r>
              <a:rPr sz="2800" dirty="0"/>
              <a:t>Apply Union of Tables in IBM Cognos Analytics.</a:t>
            </a:r>
          </a:p>
          <a:p>
            <a:pPr>
              <a:spcAft>
                <a:spcPts val="1800"/>
              </a:spcAft>
              <a:defRPr sz="2400">
                <a:solidFill>
                  <a:srgbClr val="2D343C"/>
                </a:solidFill>
                <a:latin typeface="Aptos"/>
              </a:defRPr>
            </a:pPr>
            <a:r>
              <a:rPr sz="2800" dirty="0"/>
              <a:t>Create one combined table for easier viewing and further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6599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F2F57"/>
                </a:solidFill>
                <a:latin typeface="Aptos Display"/>
              </a:rPr>
              <a:t>Input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F6976"/>
                </a:solidFill>
                <a:latin typeface="Aptos"/>
              </a:rPr>
              <a:t>Employee_January and Employee_February</a:t>
            </a:r>
          </a:p>
        </p:txBody>
      </p:sp>
      <p:pic>
        <p:nvPicPr>
          <p:cNvPr id="6" name="Picture 5" descr="union data set 2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486400" cy="4389120"/>
          </a:xfrm>
          <a:prstGeom prst="rect">
            <a:avLst/>
          </a:prstGeom>
        </p:spPr>
      </p:pic>
      <p:pic>
        <p:nvPicPr>
          <p:cNvPr id="7" name="Picture 6" descr="union data set 333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41732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12686" y="300522"/>
            <a:ext cx="5363584" cy="5693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sz="3100" b="1" dirty="0">
                <a:solidFill>
                  <a:srgbClr val="0F2F57"/>
                </a:solidFill>
                <a:latin typeface="Aptos Display"/>
              </a:rPr>
              <a:t>Application of </a:t>
            </a:r>
            <a:r>
              <a:rPr sz="3100" b="1" dirty="0">
                <a:solidFill>
                  <a:srgbClr val="0F2F57"/>
                </a:solidFill>
                <a:latin typeface="Aptos Display"/>
              </a:rPr>
              <a:t>: Union of Tables</a:t>
            </a:r>
          </a:p>
        </p:txBody>
      </p:sp>
      <p:pic>
        <p:nvPicPr>
          <p:cNvPr id="5" name="Picture 4" descr="union meth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6424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6599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F2F57"/>
                </a:solidFill>
                <a:latin typeface="Aptos Display"/>
              </a:rPr>
              <a:t>Practical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F6976"/>
                </a:solidFill>
                <a:latin typeface="Aptos"/>
              </a:rPr>
              <a:t>Combined employee records</a:t>
            </a:r>
          </a:p>
        </p:txBody>
      </p:sp>
      <p:pic>
        <p:nvPicPr>
          <p:cNvPr id="6" name="Picture 5" descr="union table outp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6424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6599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F2F57"/>
                </a:solidFill>
                <a:latin typeface="Aptos Display"/>
              </a:rPr>
              <a:t>Procedure &amp; Key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43C"/>
                </a:solidFill>
                <a:latin typeface="Aptos"/>
              </a:defRPr>
            </a:pPr>
            <a:r>
              <a:t>Open the data module in IBM Cognos Analytics.</a:t>
            </a:r>
          </a:p>
          <a:p>
            <a:pPr>
              <a:spcAft>
                <a:spcPts val="1800"/>
              </a:spcAft>
              <a:defRPr sz="2200">
                <a:solidFill>
                  <a:srgbClr val="2D343C"/>
                </a:solidFill>
                <a:latin typeface="Aptos"/>
              </a:defRPr>
            </a:pPr>
            <a:r>
              <a:t>Select Employee_January and Employee_February.</a:t>
            </a:r>
          </a:p>
          <a:p>
            <a:pPr>
              <a:spcAft>
                <a:spcPts val="1800"/>
              </a:spcAft>
              <a:defRPr sz="2200">
                <a:solidFill>
                  <a:srgbClr val="2D343C"/>
                </a:solidFill>
                <a:latin typeface="Aptos"/>
              </a:defRPr>
            </a:pPr>
            <a:r>
              <a:t>Choose the Union of Tables option.</a:t>
            </a:r>
          </a:p>
          <a:p>
            <a:pPr>
              <a:spcAft>
                <a:spcPts val="1800"/>
              </a:spcAft>
              <a:defRPr sz="2200">
                <a:solidFill>
                  <a:srgbClr val="2D343C"/>
                </a:solidFill>
                <a:latin typeface="Aptos"/>
              </a:defRPr>
            </a:pPr>
            <a:r>
              <a:t>Ensure both tables have the same number of columns with compatible data types.</a:t>
            </a:r>
          </a:p>
          <a:p>
            <a:pPr>
              <a:spcAft>
                <a:spcPts val="1800"/>
              </a:spcAft>
              <a:defRPr sz="2200">
                <a:solidFill>
                  <a:srgbClr val="2D343C"/>
                </a:solidFill>
                <a:latin typeface="Aptos"/>
              </a:defRPr>
            </a:pPr>
            <a:r>
              <a:t>Create the union table and review the combined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6599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F2F57"/>
                </a:solidFill>
                <a:latin typeface="Aptos Display"/>
              </a:rPr>
              <a:t>Conclusion &amp;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43C"/>
                </a:solidFill>
                <a:latin typeface="Aptos"/>
              </a:defRPr>
            </a:pPr>
            <a:r>
              <a:t>Union of Tables combines rows from multiple compatible tables.</a:t>
            </a:r>
          </a:p>
          <a:p>
            <a:pPr>
              <a:spcAft>
                <a:spcPts val="1800"/>
              </a:spcAft>
              <a:defRPr sz="2200">
                <a:solidFill>
                  <a:srgbClr val="2D343C"/>
                </a:solidFill>
                <a:latin typeface="Aptos"/>
              </a:defRPr>
            </a:pPr>
            <a:r>
              <a:t>The practical brought employee records from January and February together.</a:t>
            </a:r>
          </a:p>
          <a:p>
            <a:pPr>
              <a:spcAft>
                <a:spcPts val="1800"/>
              </a:spcAft>
              <a:defRPr sz="2200">
                <a:solidFill>
                  <a:srgbClr val="2D343C"/>
                </a:solidFill>
                <a:latin typeface="Aptos"/>
              </a:defRPr>
            </a:pPr>
            <a:r>
              <a:t>The combined table makes employee information easier to review.</a:t>
            </a:r>
          </a:p>
          <a:p>
            <a:pPr>
              <a:spcAft>
                <a:spcPts val="1800"/>
              </a:spcAft>
              <a:defRPr sz="2200">
                <a:solidFill>
                  <a:srgbClr val="2D343C"/>
                </a:solidFill>
                <a:latin typeface="Aptos"/>
              </a:defRPr>
            </a:pPr>
            <a:r>
              <a:t>This exercise strengthened our understanding of data preparation in IBM Cognos Analytics.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862298-AF85-4572-BED3-52E573EBD41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BE265E6-D012-42B3-A7DE-C8FEED40DBB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24917" y="3131936"/>
            <a:ext cx="1240640" cy="1240638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B9A5AE-0A9C-4EB1-9569-A44D89EFC5B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0306" y="4546924"/>
            <a:ext cx="2369988" cy="2311077"/>
          </a:xfrm>
          <a:custGeom>
            <a:avLst/>
            <a:gdLst>
              <a:gd name="connsiteX0" fmla="*/ 0 w 2369988"/>
              <a:gd name="connsiteY0" fmla="*/ 0 h 2311077"/>
              <a:gd name="connsiteX1" fmla="*/ 1128071 w 2369988"/>
              <a:gd name="connsiteY1" fmla="*/ 0 h 2311077"/>
              <a:gd name="connsiteX2" fmla="*/ 1157716 w 2369988"/>
              <a:gd name="connsiteY2" fmla="*/ 128440 h 2311077"/>
              <a:gd name="connsiteX3" fmla="*/ 2316462 w 2369988"/>
              <a:gd name="connsiteY3" fmla="*/ 2257392 h 2311077"/>
              <a:gd name="connsiteX4" fmla="*/ 2369988 w 2369988"/>
              <a:gd name="connsiteY4" fmla="*/ 2311077 h 2311077"/>
              <a:gd name="connsiteX5" fmla="*/ 957894 w 2369988"/>
              <a:gd name="connsiteY5" fmla="*/ 2311077 h 2311077"/>
              <a:gd name="connsiteX6" fmla="*/ 777804 w 2369988"/>
              <a:gd name="connsiteY6" fmla="*/ 2040997 h 2311077"/>
              <a:gd name="connsiteX7" fmla="*/ 19614 w 2369988"/>
              <a:gd name="connsiteY7" fmla="*/ 109827 h 2311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9988" h="2311077">
                <a:moveTo>
                  <a:pt x="0" y="0"/>
                </a:moveTo>
                <a:lnTo>
                  <a:pt x="1128071" y="0"/>
                </a:lnTo>
                <a:lnTo>
                  <a:pt x="1157716" y="128440"/>
                </a:lnTo>
                <a:cubicBezTo>
                  <a:pt x="1365270" y="935139"/>
                  <a:pt x="1769588" y="1662859"/>
                  <a:pt x="2316462" y="2257392"/>
                </a:cubicBezTo>
                <a:lnTo>
                  <a:pt x="2369988" y="2311077"/>
                </a:lnTo>
                <a:lnTo>
                  <a:pt x="957894" y="2311077"/>
                </a:lnTo>
                <a:lnTo>
                  <a:pt x="777804" y="2040997"/>
                </a:lnTo>
                <a:cubicBezTo>
                  <a:pt x="421651" y="1454849"/>
                  <a:pt x="161627" y="803832"/>
                  <a:pt x="19614" y="109827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09097D-3F3A-E3D9-4BAF-83B47FD5E5F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  <a:extLs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24350" y="968249"/>
            <a:ext cx="6896376" cy="492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806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227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OMI</cp:lastModifiedBy>
  <cp:revision>5</cp:revision>
  <dcterms:created xsi:type="dcterms:W3CDTF">2013-01-27T09:14:16Z</dcterms:created>
  <dcterms:modified xsi:type="dcterms:W3CDTF">2026-10-23T05:13:40Z</dcterms:modified>
  <cp:category/>
</cp:coreProperties>
</file>